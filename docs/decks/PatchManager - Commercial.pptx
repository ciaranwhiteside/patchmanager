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is for an estate with no dedicated patch management platform yet. The Commercial profile is the full-coverage answer: PatchManager owns everything, plus the fleet behaviours — throttling, jitter, rings — that make it safe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need. Without Intune, SCCM or an RMM, patching a fleet by hand doesn't scale — someone has to touch every machine, for every app, on some cadence, and it never quite happens consistently. That's the gap Commercial profile closes in one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Commercial as the full-coverage answer: one script, deployed the same way to every device, patches every layer and writes the proof. Land the deployment simplicity — no agent, no service, no licence — because that's what makes it viable without a platform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Breadth is the whole pitch here — every default is on, because there's no other system to hand anything to. Green is patched; amber is opt-in (OEM firmware); blue is report-only evidence, like end-of-life and staleness.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Commercial owns the whole fleet, it adds behaviours a single machine doesn't need: bandwidth throttling so patch traffic doesn't choke the network, and jittered scheduling so devices don't all hit the network or reboot window at the same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device writes the same report format, and every report rolls up into one fleet dashboard — the single 'is my estate actually patched' view. Point to the sample. This is the difference between hoping the fleet is patched and knowing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Owning the whole stack raises the stakes, so safety is non-negotiable: dry-run first, pre-flight checks, a restore point, and the rule that never bends — it never reboots a machine on its own. The restart decision always stays with the estate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value case for an estate without a platform: one script gives full coverage, fleet-safe rollout, and proof — for zero licence cost. Propose a short pilot on a small device group before scheduling the whole fleet.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19162"/>
            <a:ext cx="609600" cy="60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3100" y="914400"/>
            <a:ext cx="277932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PatchManager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943100" y="1333500"/>
            <a:ext cx="27793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C49A3D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PATCH. VERIFY. PROVE IT.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43000" y="3103811"/>
            <a:ext cx="15087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39C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COMMERCIAL PROFILE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3675311"/>
            <a:ext cx="14127480" cy="1843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900" b="1" spc="-150" kern="0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One tool. The whole estate. Every layer.</a:t>
            </a:r>
            <a:endParaRPr lang="en-US" sz="6900" dirty="0"/>
          </a:p>
        </p:txBody>
      </p:sp>
      <p:sp>
        <p:nvSpPr>
          <p:cNvPr id="7" name="Shape 4"/>
          <p:cNvSpPr/>
          <p:nvPr/>
        </p:nvSpPr>
        <p:spPr>
          <a:xfrm>
            <a:off x="1143000" y="5861298"/>
            <a:ext cx="1428750" cy="47625"/>
          </a:xfrm>
          <a:prstGeom prst="roundRect">
            <a:avLst>
              <a:gd name="adj" fmla="val 50000"/>
            </a:avLst>
          </a:prstGeom>
          <a:solidFill>
            <a:srgbClr val="C49A3D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6213723"/>
            <a:ext cx="11576685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C9CEC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No dedicated patch platform yet? The Commercial profile patches the OS, Office, browsers and every third-party app in one pass — with the fleet-safe behaviours a shared network needs.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143000" y="9144000"/>
            <a:ext cx="454739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39C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Full-coverage patching for a whole estate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858750" y="9182100"/>
            <a:ext cx="47148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39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Public beta v1.5.1 · MIT licence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A53B35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5" kern="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Without a platform, patching doesn't scale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428875"/>
            <a:ext cx="1428750" cy="47625"/>
          </a:xfrm>
          <a:prstGeom prst="roundRect">
            <a:avLst>
              <a:gd name="adj" fmla="val 50000"/>
            </a:avLst>
          </a:prstGeom>
          <a:solidFill>
            <a:srgbClr val="C49A3D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4828729"/>
            <a:ext cx="8719764" cy="1177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450" b="1" spc="-37" kern="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Every device becomes someone's manual chore.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143000" y="6272659"/>
            <a:ext cx="8044815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No Intune, no SCCM, no RMM — just a fleet of Windows machines, each drifting out of date at its own pace, with no consistent record of what's actually patched.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218390" y="3971925"/>
            <a:ext cx="6926610" cy="1228725"/>
          </a:xfrm>
          <a:prstGeom prst="roundRect">
            <a:avLst>
              <a:gd name="adj" fmla="val 775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218390" y="3971925"/>
            <a:ext cx="57150" cy="1228725"/>
          </a:xfrm>
          <a:prstGeom prst="rect">
            <a:avLst/>
          </a:prstGeom>
          <a:solidFill>
            <a:srgbClr val="A53B35"/>
          </a:solidFill>
          <a:ln/>
        </p:spPr>
      </p:sp>
      <p:sp>
        <p:nvSpPr>
          <p:cNvPr id="9" name="Text 7"/>
          <p:cNvSpPr/>
          <p:nvPr/>
        </p:nvSpPr>
        <p:spPr>
          <a:xfrm>
            <a:off x="10580340" y="4238625"/>
            <a:ext cx="688584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A53B35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NO CONSISTENCY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80340" y="4600575"/>
            <a:ext cx="68858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Each machine patched on its own schedule, or none.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218390" y="5391150"/>
            <a:ext cx="6926610" cy="1562100"/>
          </a:xfrm>
          <a:prstGeom prst="roundRect">
            <a:avLst>
              <a:gd name="adj" fmla="val 6098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218390" y="5391150"/>
            <a:ext cx="57150" cy="1562100"/>
          </a:xfrm>
          <a:prstGeom prst="rect">
            <a:avLst/>
          </a:prstGeom>
          <a:solidFill>
            <a:srgbClr val="C49A3D"/>
          </a:solidFill>
          <a:ln/>
        </p:spPr>
      </p:sp>
      <p:sp>
        <p:nvSpPr>
          <p:cNvPr id="13" name="Text 11"/>
          <p:cNvSpPr/>
          <p:nvPr/>
        </p:nvSpPr>
        <p:spPr>
          <a:xfrm>
            <a:off x="10580340" y="5657850"/>
            <a:ext cx="688584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8A6C2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NO VISIBILITY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80340" y="6019800"/>
            <a:ext cx="644765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No record of what's patched fleet-wide, or what's overdue.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218390" y="7143750"/>
            <a:ext cx="6926610" cy="1228725"/>
          </a:xfrm>
          <a:prstGeom prst="roundRect">
            <a:avLst>
              <a:gd name="adj" fmla="val 7752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218390" y="7143750"/>
            <a:ext cx="57150" cy="1228725"/>
          </a:xfrm>
          <a:prstGeom prst="rect">
            <a:avLst/>
          </a:prstGeom>
          <a:solidFill>
            <a:srgbClr val="1832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580340" y="7410450"/>
            <a:ext cx="688584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18324A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NO SAFETY NET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80340" y="7772400"/>
            <a:ext cx="68858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A whole fleet hitting the network, or rebooting, at once.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C49A3D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THE PROFILE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5" kern="0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One script owns every layer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371725"/>
            <a:ext cx="1295019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C9CEC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Commercial profile patches the OS, Office, browsers and third-party apps — the full stack — deployed identically to every machine, with a report proving the result.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3682305"/>
            <a:ext cx="5130701" cy="5033070"/>
          </a:xfrm>
          <a:prstGeom prst="roundRect">
            <a:avLst>
              <a:gd name="adj" fmla="val 2649"/>
            </a:avLst>
          </a:prstGeom>
          <a:solidFill>
            <a:srgbClr val="1D221F"/>
          </a:solidFill>
          <a:ln w="9525">
            <a:solidFill>
              <a:srgbClr val="2A30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3525" y="4072830"/>
            <a:ext cx="478461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C49A3D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Patch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533525" y="462528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C49A3D"/>
          </a:solidFill>
          <a:ln/>
        </p:spPr>
      </p:sp>
      <p:sp>
        <p:nvSpPr>
          <p:cNvPr id="8" name="Text 6"/>
          <p:cNvSpPr/>
          <p:nvPr/>
        </p:nvSpPr>
        <p:spPr>
          <a:xfrm>
            <a:off x="1533525" y="4891980"/>
            <a:ext cx="4480140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Every provider, on by default — nothing left for a platform you don't have.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6578501" y="3682305"/>
            <a:ext cx="5130850" cy="5033070"/>
          </a:xfrm>
          <a:prstGeom prst="roundRect">
            <a:avLst>
              <a:gd name="adj" fmla="val 2649"/>
            </a:avLst>
          </a:prstGeom>
          <a:solidFill>
            <a:srgbClr val="1D221F"/>
          </a:solidFill>
          <a:ln w="9525">
            <a:solidFill>
              <a:srgbClr val="2A30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69026" y="4072830"/>
            <a:ext cx="478478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4F9E7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Verify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6969026" y="462528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24744F"/>
          </a:solidFill>
          <a:ln/>
        </p:spPr>
      </p:sp>
      <p:sp>
        <p:nvSpPr>
          <p:cNvPr id="12" name="Text 10"/>
          <p:cNvSpPr/>
          <p:nvPr/>
        </p:nvSpPr>
        <p:spPr>
          <a:xfrm>
            <a:off x="6969026" y="4891980"/>
            <a:ext cx="4480294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Confirms each result by re-reading the installed version, machine by machine.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2014150" y="3682305"/>
            <a:ext cx="5130850" cy="5033070"/>
          </a:xfrm>
          <a:prstGeom prst="roundRect">
            <a:avLst>
              <a:gd name="adj" fmla="val 2649"/>
            </a:avLst>
          </a:prstGeom>
          <a:solidFill>
            <a:srgbClr val="1D221F"/>
          </a:solidFill>
          <a:ln w="9525">
            <a:solidFill>
              <a:srgbClr val="2A30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04675" y="4072830"/>
            <a:ext cx="478478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7FA8C9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Prove it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2404675" y="462528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8324A"/>
          </a:solidFill>
          <a:ln/>
        </p:spPr>
      </p:sp>
      <p:sp>
        <p:nvSpPr>
          <p:cNvPr id="16" name="Text 14"/>
          <p:cNvSpPr/>
          <p:nvPr/>
        </p:nvSpPr>
        <p:spPr>
          <a:xfrm>
            <a:off x="12404675" y="4891980"/>
            <a:ext cx="4480294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One report per device, rolling up into a single fleet-wide view.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143000" y="9096375"/>
            <a:ext cx="17602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No agent. No service. No licence — a single </a:t>
            </a:r>
            <a:pPr algn="l" indent="0" marL="0">
              <a:buNone/>
            </a:pPr>
            <a:r>
              <a:rPr lang="en-US" sz="2100" b="1" dirty="0">
                <a:solidFill>
                  <a:srgbClr val="C49A3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.ps1 </a:t>
            </a:r>
            <a:pPr algn="l" indent="0" marL="0">
              <a:buNone/>
            </a:pPr>
            <a:r>
              <a:rPr lang="en-US" sz="2100" b="1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file plus a JSON config, deployed however you already reach the fleet.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24744F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EVERYTHING, ONE PASS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5" kern="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Coverage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428875"/>
            <a:ext cx="1428750" cy="47625"/>
          </a:xfrm>
          <a:prstGeom prst="roundRect">
            <a:avLst>
              <a:gd name="adj" fmla="val 50000"/>
            </a:avLst>
          </a:prstGeom>
          <a:solidFill>
            <a:srgbClr val="C49A3D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857500"/>
            <a:ext cx="3857625" cy="2070050"/>
          </a:xfrm>
          <a:prstGeom prst="roundRect">
            <a:avLst>
              <a:gd name="adj" fmla="val 460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09700" y="3635276"/>
            <a:ext cx="133350" cy="133350"/>
          </a:xfrm>
          <a:prstGeom prst="ellipse">
            <a:avLst/>
          </a:prstGeom>
          <a:solidFill>
            <a:srgbClr val="24744F"/>
          </a:solidFill>
          <a:ln/>
        </p:spPr>
      </p:sp>
      <p:sp>
        <p:nvSpPr>
          <p:cNvPr id="7" name="Text 5"/>
          <p:cNvSpPr/>
          <p:nvPr/>
        </p:nvSpPr>
        <p:spPr>
          <a:xfrm>
            <a:off x="1657350" y="3530501"/>
            <a:ext cx="227083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Windows Update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409700" y="3949601"/>
            <a:ext cx="36566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OS quality &amp; security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91125" y="2857500"/>
            <a:ext cx="3857625" cy="2070050"/>
          </a:xfrm>
          <a:prstGeom prst="roundRect">
            <a:avLst>
              <a:gd name="adj" fmla="val 460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57825" y="3635276"/>
            <a:ext cx="133350" cy="133350"/>
          </a:xfrm>
          <a:prstGeom prst="ellipse">
            <a:avLst/>
          </a:prstGeom>
          <a:solidFill>
            <a:srgbClr val="24744F"/>
          </a:solidFill>
          <a:ln/>
        </p:spPr>
      </p:sp>
      <p:sp>
        <p:nvSpPr>
          <p:cNvPr id="11" name="Text 9"/>
          <p:cNvSpPr/>
          <p:nvPr/>
        </p:nvSpPr>
        <p:spPr>
          <a:xfrm>
            <a:off x="5705475" y="3530501"/>
            <a:ext cx="9855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WinGet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5457825" y="3949601"/>
            <a:ext cx="36566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All upgradable packages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39250" y="2857500"/>
            <a:ext cx="3857625" cy="2070050"/>
          </a:xfrm>
          <a:prstGeom prst="roundRect">
            <a:avLst>
              <a:gd name="adj" fmla="val 460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505950" y="3635276"/>
            <a:ext cx="133350" cy="133350"/>
          </a:xfrm>
          <a:prstGeom prst="ellipse">
            <a:avLst/>
          </a:prstGeom>
          <a:solidFill>
            <a:srgbClr val="24744F"/>
          </a:solidFill>
          <a:ln/>
        </p:spPr>
      </p:sp>
      <p:sp>
        <p:nvSpPr>
          <p:cNvPr id="15" name="Text 13"/>
          <p:cNvSpPr/>
          <p:nvPr/>
        </p:nvSpPr>
        <p:spPr>
          <a:xfrm>
            <a:off x="9753600" y="3530501"/>
            <a:ext cx="210139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Microsoft Store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9505950" y="3949601"/>
            <a:ext cx="36566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Store &amp; MDM bridge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287375" y="2857500"/>
            <a:ext cx="3857625" cy="2070050"/>
          </a:xfrm>
          <a:prstGeom prst="roundRect">
            <a:avLst>
              <a:gd name="adj" fmla="val 460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3554075" y="3635276"/>
            <a:ext cx="133350" cy="133350"/>
          </a:xfrm>
          <a:prstGeom prst="ellipse">
            <a:avLst/>
          </a:prstGeom>
          <a:solidFill>
            <a:srgbClr val="24744F"/>
          </a:solidFill>
          <a:ln/>
        </p:spPr>
      </p:sp>
      <p:sp>
        <p:nvSpPr>
          <p:cNvPr id="19" name="Text 17"/>
          <p:cNvSpPr/>
          <p:nvPr/>
        </p:nvSpPr>
        <p:spPr>
          <a:xfrm>
            <a:off x="13801725" y="3530501"/>
            <a:ext cx="187023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Microsoft 365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3554075" y="3949601"/>
            <a:ext cx="36566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Click-to-Run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43000" y="5118050"/>
            <a:ext cx="3857625" cy="2070050"/>
          </a:xfrm>
          <a:prstGeom prst="roundRect">
            <a:avLst>
              <a:gd name="adj" fmla="val 460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409700" y="5895826"/>
            <a:ext cx="133350" cy="133350"/>
          </a:xfrm>
          <a:prstGeom prst="ellipse">
            <a:avLst/>
          </a:prstGeom>
          <a:solidFill>
            <a:srgbClr val="24744F"/>
          </a:solidFill>
          <a:ln/>
        </p:spPr>
      </p:sp>
      <p:sp>
        <p:nvSpPr>
          <p:cNvPr id="23" name="Text 21"/>
          <p:cNvSpPr/>
          <p:nvPr/>
        </p:nvSpPr>
        <p:spPr>
          <a:xfrm>
            <a:off x="1657350" y="5791051"/>
            <a:ext cx="198155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Chrome / Edge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1409700" y="6210151"/>
            <a:ext cx="36566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Native updaters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191125" y="5118050"/>
            <a:ext cx="3857625" cy="2070050"/>
          </a:xfrm>
          <a:prstGeom prst="roundRect">
            <a:avLst>
              <a:gd name="adj" fmla="val 460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57825" y="5895826"/>
            <a:ext cx="133350" cy="133350"/>
          </a:xfrm>
          <a:prstGeom prst="ellipse">
            <a:avLst/>
          </a:prstGeom>
          <a:solidFill>
            <a:srgbClr val="24744F"/>
          </a:solidFill>
          <a:ln/>
        </p:spPr>
      </p:sp>
      <p:sp>
        <p:nvSpPr>
          <p:cNvPr id="27" name="Text 25"/>
          <p:cNvSpPr/>
          <p:nvPr/>
        </p:nvSpPr>
        <p:spPr>
          <a:xfrm>
            <a:off x="5705475" y="5791051"/>
            <a:ext cx="262477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Chocolatey / Scoop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5457825" y="6210151"/>
            <a:ext cx="36566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Package managers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239250" y="5118050"/>
            <a:ext cx="3857625" cy="2070050"/>
          </a:xfrm>
          <a:prstGeom prst="roundRect">
            <a:avLst>
              <a:gd name="adj" fmla="val 460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505950" y="5895826"/>
            <a:ext cx="133350" cy="133350"/>
          </a:xfrm>
          <a:prstGeom prst="ellipse">
            <a:avLst/>
          </a:prstGeom>
          <a:solidFill>
            <a:srgbClr val="24744F"/>
          </a:solidFill>
          <a:ln/>
        </p:spPr>
      </p:sp>
      <p:sp>
        <p:nvSpPr>
          <p:cNvPr id="31" name="Text 29"/>
          <p:cNvSpPr/>
          <p:nvPr/>
        </p:nvSpPr>
        <p:spPr>
          <a:xfrm>
            <a:off x="9753600" y="5791051"/>
            <a:ext cx="12197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Runtimes</a:t>
            </a:r>
            <a:endParaRPr lang="en-US" sz="2025" dirty="0"/>
          </a:p>
        </p:txBody>
      </p:sp>
      <p:sp>
        <p:nvSpPr>
          <p:cNvPr id="32" name="Text 30"/>
          <p:cNvSpPr/>
          <p:nvPr/>
        </p:nvSpPr>
        <p:spPr>
          <a:xfrm>
            <a:off x="9505950" y="6210151"/>
            <a:ext cx="36566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.NET, Python, Node.js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3287375" y="5118050"/>
            <a:ext cx="3857625" cy="2070050"/>
          </a:xfrm>
          <a:prstGeom prst="roundRect">
            <a:avLst>
              <a:gd name="adj" fmla="val 460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3554075" y="5895826"/>
            <a:ext cx="133350" cy="133350"/>
          </a:xfrm>
          <a:prstGeom prst="ellipse">
            <a:avLst/>
          </a:prstGeom>
          <a:solidFill>
            <a:srgbClr val="24744F"/>
          </a:solidFill>
          <a:ln/>
        </p:spPr>
      </p:sp>
      <p:sp>
        <p:nvSpPr>
          <p:cNvPr id="35" name="Text 33"/>
          <p:cNvSpPr/>
          <p:nvPr/>
        </p:nvSpPr>
        <p:spPr>
          <a:xfrm>
            <a:off x="13801725" y="5791051"/>
            <a:ext cx="22123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Vendor updaters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13554075" y="6210151"/>
            <a:ext cx="36566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Extensible catalogue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143000" y="7378601"/>
            <a:ext cx="3857625" cy="2070050"/>
          </a:xfrm>
          <a:prstGeom prst="roundRect">
            <a:avLst>
              <a:gd name="adj" fmla="val 460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409700" y="8156377"/>
            <a:ext cx="133350" cy="133350"/>
          </a:xfrm>
          <a:prstGeom prst="ellipse">
            <a:avLst/>
          </a:prstGeom>
          <a:solidFill>
            <a:srgbClr val="C49A3D"/>
          </a:solidFill>
          <a:ln/>
        </p:spPr>
      </p:sp>
      <p:sp>
        <p:nvSpPr>
          <p:cNvPr id="39" name="Text 37"/>
          <p:cNvSpPr/>
          <p:nvPr/>
        </p:nvSpPr>
        <p:spPr>
          <a:xfrm>
            <a:off x="1657350" y="8051602"/>
            <a:ext cx="19052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OEM firmware</a:t>
            </a:r>
            <a:endParaRPr lang="en-US" sz="2025" dirty="0"/>
          </a:p>
        </p:txBody>
      </p:sp>
      <p:sp>
        <p:nvSpPr>
          <p:cNvPr id="40" name="Text 38"/>
          <p:cNvSpPr/>
          <p:nvPr/>
        </p:nvSpPr>
        <p:spPr>
          <a:xfrm>
            <a:off x="1409700" y="8470702"/>
            <a:ext cx="36566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Opt-in (Dell/HP/Lenovo)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191125" y="7378601"/>
            <a:ext cx="3857625" cy="2070050"/>
          </a:xfrm>
          <a:prstGeom prst="roundRect">
            <a:avLst>
              <a:gd name="adj" fmla="val 4601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57825" y="8156377"/>
            <a:ext cx="133350" cy="133350"/>
          </a:xfrm>
          <a:prstGeom prst="ellipse">
            <a:avLst/>
          </a:prstGeom>
          <a:solidFill>
            <a:srgbClr val="18324A"/>
          </a:solidFill>
          <a:ln/>
        </p:spPr>
      </p:sp>
      <p:sp>
        <p:nvSpPr>
          <p:cNvPr id="43" name="Text 41"/>
          <p:cNvSpPr/>
          <p:nvPr/>
        </p:nvSpPr>
        <p:spPr>
          <a:xfrm>
            <a:off x="5705475" y="8051602"/>
            <a:ext cx="140873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End-of-life</a:t>
            </a:r>
            <a:endParaRPr lang="en-US" sz="2025" dirty="0"/>
          </a:p>
        </p:txBody>
      </p:sp>
      <p:sp>
        <p:nvSpPr>
          <p:cNvPr id="44" name="Text 42"/>
          <p:cNvSpPr/>
          <p:nvPr/>
        </p:nvSpPr>
        <p:spPr>
          <a:xfrm>
            <a:off x="5457825" y="8470702"/>
            <a:ext cx="36566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Report-only · endoflife.date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239250" y="7378601"/>
            <a:ext cx="3857625" cy="2070050"/>
          </a:xfrm>
          <a:prstGeom prst="roundRect">
            <a:avLst>
              <a:gd name="adj" fmla="val 4601"/>
            </a:avLst>
          </a:prstGeom>
          <a:solidFill>
            <a:srgbClr val="111513"/>
          </a:solidFill>
          <a:ln/>
        </p:spPr>
      </p:sp>
      <p:sp>
        <p:nvSpPr>
          <p:cNvPr id="46" name="Shape 44"/>
          <p:cNvSpPr/>
          <p:nvPr/>
        </p:nvSpPr>
        <p:spPr>
          <a:xfrm>
            <a:off x="9505950" y="7975402"/>
            <a:ext cx="114300" cy="114300"/>
          </a:xfrm>
          <a:prstGeom prst="ellipse">
            <a:avLst/>
          </a:prstGeom>
          <a:solidFill>
            <a:srgbClr val="24744F"/>
          </a:solidFill>
          <a:ln/>
        </p:spPr>
      </p:sp>
      <p:sp>
        <p:nvSpPr>
          <p:cNvPr id="47" name="Text 45"/>
          <p:cNvSpPr/>
          <p:nvPr/>
        </p:nvSpPr>
        <p:spPr>
          <a:xfrm>
            <a:off x="9696450" y="7889677"/>
            <a:ext cx="17874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Patched by default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9505950" y="8356402"/>
            <a:ext cx="114300" cy="114300"/>
          </a:xfrm>
          <a:prstGeom prst="ellipse">
            <a:avLst/>
          </a:prstGeom>
          <a:solidFill>
            <a:srgbClr val="C49A3D"/>
          </a:solidFill>
          <a:ln/>
        </p:spPr>
      </p:sp>
      <p:sp>
        <p:nvSpPr>
          <p:cNvPr id="49" name="Text 47"/>
          <p:cNvSpPr/>
          <p:nvPr/>
        </p:nvSpPr>
        <p:spPr>
          <a:xfrm>
            <a:off x="9696450" y="8270677"/>
            <a:ext cx="67761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Opt-in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9505950" y="8737402"/>
            <a:ext cx="114300" cy="114300"/>
          </a:xfrm>
          <a:prstGeom prst="ellipse">
            <a:avLst/>
          </a:prstGeom>
          <a:solidFill>
            <a:srgbClr val="18324A"/>
          </a:solidFill>
          <a:ln/>
        </p:spPr>
      </p:sp>
      <p:sp>
        <p:nvSpPr>
          <p:cNvPr id="51" name="Text 49"/>
          <p:cNvSpPr/>
          <p:nvPr/>
        </p:nvSpPr>
        <p:spPr>
          <a:xfrm>
            <a:off x="9696450" y="8651677"/>
            <a:ext cx="117351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Report-only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C49A3D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BUILT FOR THE FLEET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5" kern="0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Fleet-safe by design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371725"/>
            <a:ext cx="12950190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325" dirty="0">
                <a:solidFill>
                  <a:srgbClr val="C9CEC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One machine can patch freely. A fleet sharing a network and a helpdesk needs more care — Commercial profile adds it automatically.</a:t>
            </a:r>
            <a:endParaRPr lang="en-US" sz="2325" dirty="0"/>
          </a:p>
        </p:txBody>
      </p:sp>
      <p:sp>
        <p:nvSpPr>
          <p:cNvPr id="5" name="Shape 3"/>
          <p:cNvSpPr/>
          <p:nvPr/>
        </p:nvSpPr>
        <p:spPr>
          <a:xfrm>
            <a:off x="1143000" y="3617416"/>
            <a:ext cx="5156150" cy="5145584"/>
          </a:xfrm>
          <a:prstGeom prst="roundRect">
            <a:avLst>
              <a:gd name="adj" fmla="val 2592"/>
            </a:avLst>
          </a:prstGeom>
          <a:solidFill>
            <a:srgbClr val="1D221F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3617416"/>
            <a:ext cx="5156150" cy="76200"/>
          </a:xfrm>
          <a:prstGeom prst="rect">
            <a:avLst/>
          </a:prstGeom>
          <a:solidFill>
            <a:srgbClr val="C49A3D"/>
          </a:solidFill>
          <a:ln/>
        </p:spPr>
      </p:sp>
      <p:sp>
        <p:nvSpPr>
          <p:cNvPr id="7" name="Text 5"/>
          <p:cNvSpPr/>
          <p:nvPr/>
        </p:nvSpPr>
        <p:spPr>
          <a:xfrm>
            <a:off x="1504950" y="4055566"/>
            <a:ext cx="48754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7" kern="0" dirty="0">
                <a:solidFill>
                  <a:srgbClr val="D8B35F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Bandwidth throttling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04950" y="4560391"/>
            <a:ext cx="4565218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BITS transfers are capped so patch downloads don't crowd out everyday traffic — reverted automatically when the run ends.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565850" y="3617416"/>
            <a:ext cx="5156299" cy="5145584"/>
          </a:xfrm>
          <a:prstGeom prst="roundRect">
            <a:avLst>
              <a:gd name="adj" fmla="val 2592"/>
            </a:avLst>
          </a:prstGeom>
          <a:solidFill>
            <a:srgbClr val="1D221F"/>
          </a:solidFill>
          <a:ln/>
        </p:spPr>
      </p:sp>
      <p:sp>
        <p:nvSpPr>
          <p:cNvPr id="10" name="Shape 8"/>
          <p:cNvSpPr/>
          <p:nvPr/>
        </p:nvSpPr>
        <p:spPr>
          <a:xfrm>
            <a:off x="6565850" y="3617416"/>
            <a:ext cx="5156299" cy="76200"/>
          </a:xfrm>
          <a:prstGeom prst="rect">
            <a:avLst/>
          </a:prstGeom>
          <a:solidFill>
            <a:srgbClr val="18324A"/>
          </a:solidFill>
          <a:ln/>
        </p:spPr>
      </p:sp>
      <p:sp>
        <p:nvSpPr>
          <p:cNvPr id="11" name="Text 9"/>
          <p:cNvSpPr/>
          <p:nvPr/>
        </p:nvSpPr>
        <p:spPr>
          <a:xfrm>
            <a:off x="6927800" y="4055566"/>
            <a:ext cx="48756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7" kern="0" dirty="0">
                <a:solidFill>
                  <a:srgbClr val="7FA8C9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Jittered scheduling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927800" y="4560391"/>
            <a:ext cx="456537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A hostname-seeded delay spreads the fleet across the maintenance window, instead of one thundering herd.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1988850" y="3617416"/>
            <a:ext cx="5156150" cy="5145584"/>
          </a:xfrm>
          <a:prstGeom prst="roundRect">
            <a:avLst>
              <a:gd name="adj" fmla="val 2592"/>
            </a:avLst>
          </a:prstGeom>
          <a:solidFill>
            <a:srgbClr val="1D221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988850" y="3617416"/>
            <a:ext cx="5156150" cy="76200"/>
          </a:xfrm>
          <a:prstGeom prst="rect">
            <a:avLst/>
          </a:prstGeom>
          <a:solidFill>
            <a:srgbClr val="24744F"/>
          </a:solidFill>
          <a:ln/>
        </p:spPr>
      </p:sp>
      <p:sp>
        <p:nvSpPr>
          <p:cNvPr id="15" name="Text 13"/>
          <p:cNvSpPr/>
          <p:nvPr/>
        </p:nvSpPr>
        <p:spPr>
          <a:xfrm>
            <a:off x="12350800" y="4055566"/>
            <a:ext cx="48754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7" kern="0" dirty="0">
                <a:solidFill>
                  <a:srgbClr val="4F9E7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Deployment rings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350800" y="4560391"/>
            <a:ext cx="4565218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Registry-driven Pilot / Early / Broad rings via GPO, so changes stagger rather than land on every device at once.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143000" y="91059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C9CEC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Same protections as a managed platform — without needing one.</a:t>
            </a:r>
            <a:endParaRPr lang="en-US" sz="20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18324A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PROOF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5" kern="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One dashboard, the whole estate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428875"/>
            <a:ext cx="1428750" cy="47625"/>
          </a:xfrm>
          <a:prstGeom prst="roundRect">
            <a:avLst>
              <a:gd name="adj" fmla="val 50000"/>
            </a:avLst>
          </a:prstGeom>
          <a:solidFill>
            <a:srgbClr val="C49A3D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4053929"/>
            <a:ext cx="7762449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spc="-37" kern="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Every device writes the same evidence — patched, verified, timestamped — and every report rolls up into one fleet view.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5861596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324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HTML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95500" y="5794921"/>
            <a:ext cx="62817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33B35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Interactive per-device report — search, filter, print.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143000" y="6414046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324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JSON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95500" y="6347371"/>
            <a:ext cx="512791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33B35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Machine-readable results for automation.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143000" y="6966496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324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CSV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95500" y="6899821"/>
            <a:ext cx="47014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33B35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Flat export for SIEM, Excel or Power BI.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143000" y="7585621"/>
            <a:ext cx="776244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Point reports at a central share and the fleet dashboard builds itself — stale hosts, KEV exposure and SLA breaches, estate-wide.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212759" y="3097113"/>
            <a:ext cx="7932241" cy="6112073"/>
          </a:xfrm>
          <a:prstGeom prst="roundRect">
            <a:avLst>
              <a:gd name="adj" fmla="val 2182"/>
            </a:avLst>
          </a:prstGeom>
          <a:ln w="9525">
            <a:solidFill>
              <a:srgbClr val="DCD6C8"/>
            </a:solidFill>
            <a:prstDash val="solid"/>
          </a:ln>
          <a:effectLst>
            <a:outerShdw sx="100000" sy="100000" kx="0" ky="0" algn="bl" rotWithShape="0" blurRad="381000" dist="114300" dir="5400000">
              <a:srgbClr val="111513">
                <a:alpha val="2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2284" y="3106638"/>
            <a:ext cx="7913191" cy="60930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24744F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OPERATIONAL SAFETY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5" kern="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Safe by default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428875"/>
            <a:ext cx="1428750" cy="47625"/>
          </a:xfrm>
          <a:prstGeom prst="roundRect">
            <a:avLst>
              <a:gd name="adj" fmla="val 50000"/>
            </a:avLst>
          </a:prstGeom>
          <a:solidFill>
            <a:srgbClr val="C49A3D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857500"/>
            <a:ext cx="4216301" cy="3200400"/>
          </a:xfrm>
          <a:prstGeom prst="roundRect">
            <a:avLst>
              <a:gd name="adj" fmla="val 2976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28750" y="3952875"/>
            <a:ext cx="40092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Dry-run first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428750" y="4352925"/>
            <a:ext cx="375414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Preview every change before anything runs.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549801" y="2857500"/>
            <a:ext cx="4216450" cy="3200400"/>
          </a:xfrm>
          <a:prstGeom prst="roundRect">
            <a:avLst>
              <a:gd name="adj" fmla="val 2976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35551" y="3952875"/>
            <a:ext cx="40094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Pre-flight checks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5835551" y="4352925"/>
            <a:ext cx="375429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Disk, battery, pending reboot, connectivity.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6248400"/>
            <a:ext cx="4216301" cy="3200400"/>
          </a:xfrm>
          <a:prstGeom prst="roundRect">
            <a:avLst>
              <a:gd name="adj" fmla="val 2976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28750" y="7343775"/>
            <a:ext cx="40092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System restore point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428750" y="7743825"/>
            <a:ext cx="375414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Created before patching begins on every device.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549801" y="6248400"/>
            <a:ext cx="4216450" cy="3200400"/>
          </a:xfrm>
          <a:prstGeom prst="roundRect">
            <a:avLst>
              <a:gd name="adj" fmla="val 2976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8575" dist="9525" dir="5400000">
              <a:srgbClr val="111513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35551" y="7343775"/>
            <a:ext cx="40094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Maintenance windows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5835551" y="7743825"/>
            <a:ext cx="375429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Patch out of hours; defer while a device is in use.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109150" y="2857500"/>
            <a:ext cx="7035850" cy="6591300"/>
          </a:xfrm>
          <a:prstGeom prst="roundRect">
            <a:avLst>
              <a:gd name="adj" fmla="val 2023"/>
            </a:avLst>
          </a:prstGeom>
          <a:solidFill>
            <a:srgbClr val="111513"/>
          </a:solidFill>
          <a:ln/>
        </p:spPr>
      </p:sp>
      <p:sp>
        <p:nvSpPr>
          <p:cNvPr id="18" name="Text 16"/>
          <p:cNvSpPr/>
          <p:nvPr/>
        </p:nvSpPr>
        <p:spPr>
          <a:xfrm>
            <a:off x="10547300" y="4956721"/>
            <a:ext cx="67755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C49A3D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THE LINE WE DON'T CROSS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47300" y="5471071"/>
            <a:ext cx="6775505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300" b="1" spc="-75" kern="0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It never reboots a machine.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0547300" y="6221611"/>
            <a:ext cx="6344336" cy="1166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C9CEC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Reboot-required is flagged in the report and exit code </a:t>
            </a:r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C49A3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3010 </a:t>
            </a:r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C9CEC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— the restart decision stays with the estate owner.</a:t>
            </a:r>
            <a:endParaRPr lang="en-US" sz="20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C49A3D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THE RECOMMENDATION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71600"/>
            <a:ext cx="14127480" cy="15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50" b="1" spc="-112" kern="0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Full coverage, fleet-safe rollout, zero licence cost.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143000" y="3194447"/>
            <a:ext cx="1428750" cy="47625"/>
          </a:xfrm>
          <a:prstGeom prst="roundRect">
            <a:avLst>
              <a:gd name="adj" fmla="val 50000"/>
            </a:avLst>
          </a:prstGeom>
          <a:solidFill>
            <a:srgbClr val="C49A3D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623072"/>
            <a:ext cx="5156150" cy="4911328"/>
          </a:xfrm>
          <a:prstGeom prst="roundRect">
            <a:avLst>
              <a:gd name="adj" fmla="val 2715"/>
            </a:avLst>
          </a:prstGeom>
          <a:solidFill>
            <a:srgbClr val="1D221F"/>
          </a:solidFill>
          <a:ln w="9525">
            <a:solidFill>
              <a:srgbClr val="2A30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14475" y="3994547"/>
            <a:ext cx="48545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E08A8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Every layer, owned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14475" y="4527947"/>
            <a:ext cx="4545596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OS to third-party apps — no gap left for a platform we don't have.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65850" y="3623072"/>
            <a:ext cx="5156299" cy="4911328"/>
          </a:xfrm>
          <a:prstGeom prst="roundRect">
            <a:avLst>
              <a:gd name="adj" fmla="val 2715"/>
            </a:avLst>
          </a:prstGeom>
          <a:solidFill>
            <a:srgbClr val="1D221F"/>
          </a:solidFill>
          <a:ln w="9525">
            <a:solidFill>
              <a:srgbClr val="2A30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37325" y="3994547"/>
            <a:ext cx="485468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7FA8C9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Safe at scale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937325" y="4527947"/>
            <a:ext cx="4545750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Throttling, jitter and rings — built for a shared fleet, not just one PC.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988850" y="3623072"/>
            <a:ext cx="5156150" cy="4911328"/>
          </a:xfrm>
          <a:prstGeom prst="roundRect">
            <a:avLst>
              <a:gd name="adj" fmla="val 2715"/>
            </a:avLst>
          </a:prstGeom>
          <a:solidFill>
            <a:srgbClr val="1D221F"/>
          </a:solidFill>
          <a:ln w="9525">
            <a:solidFill>
              <a:srgbClr val="2A30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60325" y="3994547"/>
            <a:ext cx="48545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4F9E7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Costs nothing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360325" y="4527947"/>
            <a:ext cx="4545596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MIT-licensed, no agent, no service — deploy with what we already have.</a:t>
            </a:r>
            <a:endParaRPr lang="en-US" sz="1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53500"/>
            <a:ext cx="495300" cy="4953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809750" y="9010650"/>
            <a:ext cx="42995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150" kern="0" dirty="0">
                <a:solidFill>
                  <a:srgbClr val="C49A3D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PATCH. VERIFY. PROVE IT.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2026-07-09T09:26:47Z</dcterms:created>
  <dcterms:modified xsi:type="dcterms:W3CDTF">2026-07-09T09:26:47Z</dcterms:modified>
</cp:coreProperties>
</file>