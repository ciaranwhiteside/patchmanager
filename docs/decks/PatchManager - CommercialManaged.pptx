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for an estate that already has Intune / SCCM / WSUS / RMM patching the OS, Office and browsers. The pitch is narrow and precise: don't replace what works — fill the one gap it leaves, and log every deferral as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boundary. Everything on the left has a clear owner today. Everything on the right is the long tail your management platform was never scoped to patch — and it's exactly where unmanaged risk accumulates.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CommercialManaged is the profile built for exactly this. It defers the managed areas to your platform and patches only the gap. It's a single script deployed as SYSTEM by the tooling you already use — no new agent, no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precise about the split. On CommercialManaged the tool automatically disables the Windows Update, Microsoft 365, Chrome, Edge, Scoop and vendor-updater providers, and descopes the managed WinGet packages. What's left is the third-party gap — and the report-only safety nets that never change the machine stay on across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reassurance for a managed estate: deferring is not the same as ignoring. The report-only safety nets keep watching the managed apps too. If your platform falls behind on an actively-exploited Chrome, PatchManager still flags it. Coverage boundaries don't become blind spots.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 story. Because everything — patched, deferred, flagged — lands in one report, you get a single defensible record per device. HTML for people, JSON for automation, CSV for the SIEM, rolled up estate-wide in the fleet dashboard. Point to the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deploys without disruption. Stage the script via Intune or SCCM, drop a config with the managed profile and your central share, assign rings, schedule nightly, and wire events into the SIEM. Self-update is off by default here — a managed estate's own tooling should own how the script is deployed. Point to the fleet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same way as the commercial proposal: a narrow, low-risk ask. This doesn't touch what your platform does — it closes the one gap it leaves, for zero licence cost, with evidence. Propose a short pilot on the Pilot 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19162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3100" y="914400"/>
            <a:ext cx="277932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PatchManager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943100" y="1333500"/>
            <a:ext cx="27793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PATCH. VERIFY. PROVE IT.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43000" y="3123456"/>
            <a:ext cx="15087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39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COMMERCIALMANAGED PROFILE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3694956"/>
            <a:ext cx="14127480" cy="1803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750" b="1" spc="-150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Fill the gap your platform leaves behind</a:t>
            </a:r>
            <a:endParaRPr lang="en-US" sz="6750" dirty="0"/>
          </a:p>
        </p:txBody>
      </p:sp>
      <p:sp>
        <p:nvSpPr>
          <p:cNvPr id="7" name="Shape 4"/>
          <p:cNvSpPr/>
          <p:nvPr/>
        </p:nvSpPr>
        <p:spPr>
          <a:xfrm>
            <a:off x="1143000" y="5841653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6194078"/>
            <a:ext cx="11772900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Intune, SCCM or your RMM already own the OS, Office and browsers. PatchManager covers the third-party software they don't — and records every deferral as an audited decision.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143000" y="9144000"/>
            <a:ext cx="40397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9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Prepared for IT &amp; Security leadership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055078" y="9182100"/>
            <a:ext cx="5598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39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Complements Intune · SCCM · WSUS · RMM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BOUNDARY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Your platform stops short of the long tail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95600"/>
            <a:ext cx="6783437" cy="6553200"/>
          </a:xfrm>
          <a:prstGeom prst="roundRect">
            <a:avLst>
              <a:gd name="adj" fmla="val 174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57150" dist="19050" dir="5400000">
              <a:srgbClr val="111513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895600"/>
            <a:ext cx="6783437" cy="76200"/>
          </a:xfrm>
          <a:prstGeom prst="rect">
            <a:avLst/>
          </a:prstGeom>
          <a:solidFill>
            <a:srgbClr val="24744F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3390900"/>
            <a:ext cx="64559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4744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ALREADY OWNED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3848100"/>
            <a:ext cx="645594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37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Your platform patches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600200" y="4600575"/>
            <a:ext cx="2218134" cy="495300"/>
          </a:xfrm>
          <a:prstGeom prst="roundRect">
            <a:avLst>
              <a:gd name="adj" fmla="val 15385"/>
            </a:avLst>
          </a:prstGeom>
          <a:solidFill>
            <a:srgbClr val="EFE9DB"/>
          </a:solidFill>
          <a:ln/>
        </p:spPr>
      </p:sp>
      <p:sp>
        <p:nvSpPr>
          <p:cNvPr id="10" name="Text 8"/>
          <p:cNvSpPr/>
          <p:nvPr/>
        </p:nvSpPr>
        <p:spPr>
          <a:xfrm>
            <a:off x="1771650" y="4714875"/>
            <a:ext cx="19514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51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Windows Update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51684" y="4600575"/>
            <a:ext cx="2084189" cy="495300"/>
          </a:xfrm>
          <a:prstGeom prst="roundRect">
            <a:avLst>
              <a:gd name="adj" fmla="val 15385"/>
            </a:avLst>
          </a:prstGeom>
          <a:solidFill>
            <a:srgbClr val="EFE9DB"/>
          </a:solidFill>
          <a:ln/>
        </p:spPr>
      </p:sp>
      <p:sp>
        <p:nvSpPr>
          <p:cNvPr id="12" name="Text 10"/>
          <p:cNvSpPr/>
          <p:nvPr/>
        </p:nvSpPr>
        <p:spPr>
          <a:xfrm>
            <a:off x="4123134" y="4714875"/>
            <a:ext cx="18174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51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Microsoft 365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00200" y="5229225"/>
            <a:ext cx="2084189" cy="495300"/>
          </a:xfrm>
          <a:prstGeom prst="roundRect">
            <a:avLst>
              <a:gd name="adj" fmla="val 15385"/>
            </a:avLst>
          </a:prstGeom>
          <a:solidFill>
            <a:srgbClr val="EFE9DB"/>
          </a:solidFill>
          <a:ln/>
        </p:spPr>
      </p:sp>
      <p:sp>
        <p:nvSpPr>
          <p:cNvPr id="14" name="Text 12"/>
          <p:cNvSpPr/>
          <p:nvPr/>
        </p:nvSpPr>
        <p:spPr>
          <a:xfrm>
            <a:off x="1771650" y="5343525"/>
            <a:ext cx="18174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51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Chrome / Edge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8311753"/>
            <a:ext cx="604510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3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Reliably delivered through Intune, SCCM, WSUS or your RMM.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307437" y="2895600"/>
            <a:ext cx="8837563" cy="6553200"/>
          </a:xfrm>
          <a:prstGeom prst="roundRect">
            <a:avLst>
              <a:gd name="adj" fmla="val 1744"/>
            </a:avLst>
          </a:prstGeom>
          <a:solidFill>
            <a:srgbClr val="111513"/>
          </a:solidFill>
          <a:ln/>
          <a:effectLst>
            <a:outerShdw sx="100000" sy="100000" kx="0" ky="0" algn="bl" rotWithShape="0" blurRad="57150" dist="19050" dir="5400000">
              <a:srgbClr val="11151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7437" y="2895600"/>
            <a:ext cx="8837563" cy="76200"/>
          </a:xfrm>
          <a:prstGeom prst="rect">
            <a:avLst/>
          </a:prstGeom>
          <a:solidFill>
            <a:srgbClr val="A53B35"/>
          </a:solidFill>
          <a:ln/>
        </p:spPr>
      </p:sp>
      <p:sp>
        <p:nvSpPr>
          <p:cNvPr id="18" name="Text 16"/>
          <p:cNvSpPr/>
          <p:nvPr/>
        </p:nvSpPr>
        <p:spPr>
          <a:xfrm>
            <a:off x="8764637" y="3390900"/>
            <a:ext cx="87154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E08A8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NOBODY'S JOB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64637" y="3848100"/>
            <a:ext cx="871547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37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third-party gap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8764637" y="4600575"/>
            <a:ext cx="1835348" cy="514350"/>
          </a:xfrm>
          <a:prstGeom prst="roundRect">
            <a:avLst>
              <a:gd name="adj" fmla="val 14815"/>
            </a:avLst>
          </a:prstGeom>
          <a:solidFill>
            <a:srgbClr val="1D221F"/>
          </a:solidFill>
          <a:ln w="9525">
            <a:solidFill>
              <a:srgbClr val="333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5612" y="4724400"/>
            <a:ext cx="15495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6F2E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WinGet apps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733336" y="4600575"/>
            <a:ext cx="1701403" cy="514350"/>
          </a:xfrm>
          <a:prstGeom prst="roundRect">
            <a:avLst>
              <a:gd name="adj" fmla="val 14815"/>
            </a:avLst>
          </a:prstGeom>
          <a:solidFill>
            <a:srgbClr val="1D221F"/>
          </a:solidFill>
          <a:ln w="9525">
            <a:solidFill>
              <a:srgbClr val="333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14311" y="4724400"/>
            <a:ext cx="14156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6F2E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Store apps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568089" y="4600575"/>
            <a:ext cx="3040856" cy="514350"/>
          </a:xfrm>
          <a:prstGeom prst="roundRect">
            <a:avLst>
              <a:gd name="adj" fmla="val 14815"/>
            </a:avLst>
          </a:prstGeom>
          <a:solidFill>
            <a:srgbClr val="1D221F"/>
          </a:solidFill>
          <a:ln w="9525">
            <a:solidFill>
              <a:srgbClr val="333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749064" y="4724400"/>
            <a:ext cx="27701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6F2E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.NET / Python / Node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764637" y="5248275"/>
            <a:ext cx="1031677" cy="514350"/>
          </a:xfrm>
          <a:prstGeom prst="roundRect">
            <a:avLst>
              <a:gd name="adj" fmla="val 14815"/>
            </a:avLst>
          </a:prstGeom>
          <a:solidFill>
            <a:srgbClr val="1D221F"/>
          </a:solidFill>
          <a:ln w="9525">
            <a:solidFill>
              <a:srgbClr val="333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5612" y="5372100"/>
            <a:ext cx="7459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6F2E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Scoop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929664" y="5248275"/>
            <a:ext cx="2371130" cy="514350"/>
          </a:xfrm>
          <a:prstGeom prst="roundRect">
            <a:avLst>
              <a:gd name="adj" fmla="val 14815"/>
            </a:avLst>
          </a:prstGeom>
          <a:solidFill>
            <a:srgbClr val="1D221F"/>
          </a:solidFill>
          <a:ln w="9525">
            <a:solidFill>
              <a:srgbClr val="333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10639" y="5372100"/>
            <a:ext cx="20853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6F2E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Vendor updaters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434143" y="5248275"/>
            <a:ext cx="3174802" cy="514350"/>
          </a:xfrm>
          <a:prstGeom prst="roundRect">
            <a:avLst>
              <a:gd name="adj" fmla="val 14815"/>
            </a:avLst>
          </a:prstGeom>
          <a:solidFill>
            <a:srgbClr val="1D221F"/>
          </a:solidFill>
          <a:ln w="9525">
            <a:solidFill>
              <a:srgbClr val="333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615118" y="5372100"/>
            <a:ext cx="29080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6F2E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Utilities &amp; archivers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764637" y="8669685"/>
            <a:ext cx="816085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apps with no MDM channel — patched by hand, or not at all.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PROFILE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Built for a managed estate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371725"/>
            <a:ext cx="12950190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CommercialManaged defers OS, Office and browser patching to your platform, then patches the third-party gap it leaves — as one reviewable PowerShell file, deployed by the tooling you already run.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4108996"/>
            <a:ext cx="5130701" cy="4606379"/>
          </a:xfrm>
          <a:prstGeom prst="roundRect">
            <a:avLst>
              <a:gd name="adj" fmla="val 2895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3525" y="4499521"/>
            <a:ext cx="47846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Covers the gap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533525" y="5051971"/>
            <a:ext cx="533400" cy="38100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8" name="Text 6"/>
          <p:cNvSpPr/>
          <p:nvPr/>
        </p:nvSpPr>
        <p:spPr>
          <a:xfrm>
            <a:off x="1533525" y="5318671"/>
            <a:ext cx="4480140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Third-party apps, runtimes and vendor updaters your platform doesn't reach.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578501" y="4108996"/>
            <a:ext cx="5130850" cy="4606379"/>
          </a:xfrm>
          <a:prstGeom prst="roundRect">
            <a:avLst>
              <a:gd name="adj" fmla="val 2895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9026" y="4499521"/>
            <a:ext cx="4784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4F9E7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Defers cleanly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969026" y="5051971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4744F"/>
          </a:solidFill>
          <a:ln/>
        </p:spPr>
      </p:sp>
      <p:sp>
        <p:nvSpPr>
          <p:cNvPr id="12" name="Text 10"/>
          <p:cNvSpPr/>
          <p:nvPr/>
        </p:nvSpPr>
        <p:spPr>
          <a:xfrm>
            <a:off x="6969026" y="5318671"/>
            <a:ext cx="448029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OS, Office and browsers stay with the system that already owns them.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2014150" y="4108996"/>
            <a:ext cx="5130850" cy="4606379"/>
          </a:xfrm>
          <a:prstGeom prst="roundRect">
            <a:avLst>
              <a:gd name="adj" fmla="val 2895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04675" y="4499521"/>
            <a:ext cx="4784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7FA8C9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Proves both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2404675" y="5051971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8324A"/>
          </a:solidFill>
          <a:ln/>
        </p:spPr>
      </p:sp>
      <p:sp>
        <p:nvSpPr>
          <p:cNvPr id="16" name="Text 14"/>
          <p:cNvSpPr/>
          <p:nvPr/>
        </p:nvSpPr>
        <p:spPr>
          <a:xfrm>
            <a:off x="12404675" y="5318671"/>
            <a:ext cx="448029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 patch and every deferral recorded in one audit-ready report.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143000" y="9096375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Deployed as SYSTEM via Intune or SCCM — no new agent, no service, no dependency.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8324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SPLIT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Exactly what it touches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57500"/>
            <a:ext cx="5130701" cy="6591300"/>
          </a:xfrm>
          <a:prstGeom prst="roundRect">
            <a:avLst>
              <a:gd name="adj" fmla="val 222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38100" dist="9525" dir="5400000">
              <a:srgbClr val="111513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62100" y="3238500"/>
            <a:ext cx="47217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24744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COVERED BY PATCHMANAGER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62100" y="3905250"/>
            <a:ext cx="114300" cy="11430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8" name="Text 6"/>
          <p:cNvSpPr/>
          <p:nvPr/>
        </p:nvSpPr>
        <p:spPr>
          <a:xfrm>
            <a:off x="1809750" y="3790950"/>
            <a:ext cx="35882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WinGet third-party packages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562100" y="4400550"/>
            <a:ext cx="114300" cy="11430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10" name="Text 8"/>
          <p:cNvSpPr/>
          <p:nvPr/>
        </p:nvSpPr>
        <p:spPr>
          <a:xfrm>
            <a:off x="1809750" y="4286250"/>
            <a:ext cx="26095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Microsoft Store apps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562100" y="4895850"/>
            <a:ext cx="114300" cy="11430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12" name="Text 10"/>
          <p:cNvSpPr/>
          <p:nvPr/>
        </p:nvSpPr>
        <p:spPr>
          <a:xfrm>
            <a:off x="1809750" y="4781550"/>
            <a:ext cx="39539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Runtimes — .NET, Python, Node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562100" y="5391150"/>
            <a:ext cx="114300" cy="114300"/>
          </a:xfrm>
          <a:prstGeom prst="ellipse">
            <a:avLst/>
          </a:prstGeom>
          <a:solidFill>
            <a:srgbClr val="24744F"/>
          </a:solidFill>
          <a:ln/>
        </p:spPr>
      </p:sp>
      <p:sp>
        <p:nvSpPr>
          <p:cNvPr id="14" name="Text 12"/>
          <p:cNvSpPr/>
          <p:nvPr/>
        </p:nvSpPr>
        <p:spPr>
          <a:xfrm>
            <a:off x="1809750" y="5276850"/>
            <a:ext cx="29150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Native vendor updaters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6578501" y="2857500"/>
            <a:ext cx="5130850" cy="6591300"/>
          </a:xfrm>
          <a:prstGeom prst="roundRect">
            <a:avLst>
              <a:gd name="adj" fmla="val 2228"/>
            </a:avLst>
          </a:prstGeom>
          <a:solidFill>
            <a:srgbClr val="FFFDF8"/>
          </a:solidFill>
          <a:ln/>
          <a:effectLst>
            <a:outerShdw sx="100000" sy="100000" kx="0" ky="0" algn="bl" rotWithShape="0" blurRad="38100" dist="9525" dir="5400000">
              <a:srgbClr val="111513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7601" y="3238500"/>
            <a:ext cx="47219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DEFERRED TO YOUR PLATFORM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97601" y="3905250"/>
            <a:ext cx="114300" cy="114300"/>
          </a:xfrm>
          <a:prstGeom prst="ellipse">
            <a:avLst/>
          </a:prstGeom>
          <a:solidFill>
            <a:srgbClr val="9AA39C"/>
          </a:solidFill>
          <a:ln/>
        </p:spPr>
      </p:sp>
      <p:sp>
        <p:nvSpPr>
          <p:cNvPr id="18" name="Text 16"/>
          <p:cNvSpPr/>
          <p:nvPr/>
        </p:nvSpPr>
        <p:spPr>
          <a:xfrm>
            <a:off x="7245251" y="3790950"/>
            <a:ext cx="21203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Windows Update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6997601" y="4400550"/>
            <a:ext cx="114300" cy="114300"/>
          </a:xfrm>
          <a:prstGeom prst="ellipse">
            <a:avLst/>
          </a:prstGeom>
          <a:solidFill>
            <a:srgbClr val="9AA39C"/>
          </a:solidFill>
          <a:ln/>
        </p:spPr>
      </p:sp>
      <p:sp>
        <p:nvSpPr>
          <p:cNvPr id="20" name="Text 18"/>
          <p:cNvSpPr/>
          <p:nvPr/>
        </p:nvSpPr>
        <p:spPr>
          <a:xfrm>
            <a:off x="7245251" y="4286250"/>
            <a:ext cx="33863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Microsoft 365 Click-to-Run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6997601" y="4895850"/>
            <a:ext cx="114300" cy="114300"/>
          </a:xfrm>
          <a:prstGeom prst="ellipse">
            <a:avLst/>
          </a:prstGeom>
          <a:solidFill>
            <a:srgbClr val="9AA39C"/>
          </a:solidFill>
          <a:ln/>
        </p:spPr>
      </p:sp>
      <p:sp>
        <p:nvSpPr>
          <p:cNvPr id="22" name="Text 20"/>
          <p:cNvSpPr/>
          <p:nvPr/>
        </p:nvSpPr>
        <p:spPr>
          <a:xfrm>
            <a:off x="7245251" y="4781550"/>
            <a:ext cx="33996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Chrome, Edge &amp; WebView2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6997601" y="5391150"/>
            <a:ext cx="114300" cy="114300"/>
          </a:xfrm>
          <a:prstGeom prst="ellipse">
            <a:avLst/>
          </a:prstGeom>
          <a:solidFill>
            <a:srgbClr val="9AA39C"/>
          </a:solidFill>
          <a:ln/>
        </p:spPr>
      </p:sp>
      <p:sp>
        <p:nvSpPr>
          <p:cNvPr id="24" name="Text 22"/>
          <p:cNvSpPr/>
          <p:nvPr/>
        </p:nvSpPr>
        <p:spPr>
          <a:xfrm>
            <a:off x="7245251" y="5276850"/>
            <a:ext cx="227640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Teams &amp; OneDrive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2014150" y="2857500"/>
            <a:ext cx="5130850" cy="6591300"/>
          </a:xfrm>
          <a:prstGeom prst="roundRect">
            <a:avLst>
              <a:gd name="adj" fmla="val 2228"/>
            </a:avLst>
          </a:prstGeom>
          <a:solidFill>
            <a:srgbClr val="18324A"/>
          </a:solidFill>
          <a:ln/>
          <a:effectLst>
            <a:outerShdw sx="100000" sy="100000" kx="0" ky="0" algn="bl" rotWithShape="0" blurRad="133350" dist="38100" dir="5400000">
              <a:srgbClr val="18324A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433250" y="3238500"/>
            <a:ext cx="47219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9FC0DC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ALWAYS ON — NEVER PATCHES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433250" y="3905250"/>
            <a:ext cx="114300" cy="114300"/>
          </a:xfrm>
          <a:prstGeom prst="ellipse">
            <a:avLst/>
          </a:prstGeom>
          <a:solidFill>
            <a:srgbClr val="C49A3D"/>
          </a:solidFill>
          <a:ln/>
        </p:spPr>
      </p:sp>
      <p:sp>
        <p:nvSpPr>
          <p:cNvPr id="28" name="Text 26"/>
          <p:cNvSpPr/>
          <p:nvPr/>
        </p:nvSpPr>
        <p:spPr>
          <a:xfrm>
            <a:off x="12680900" y="3790950"/>
            <a:ext cx="30563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Inventory-wide KEV scan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2433250" y="4400550"/>
            <a:ext cx="114300" cy="114300"/>
          </a:xfrm>
          <a:prstGeom prst="ellipse">
            <a:avLst/>
          </a:prstGeom>
          <a:solidFill>
            <a:srgbClr val="C49A3D"/>
          </a:solidFill>
          <a:ln/>
        </p:spPr>
      </p:sp>
      <p:sp>
        <p:nvSpPr>
          <p:cNvPr id="30" name="Text 28"/>
          <p:cNvSpPr/>
          <p:nvPr/>
        </p:nvSpPr>
        <p:spPr>
          <a:xfrm>
            <a:off x="12680900" y="4286250"/>
            <a:ext cx="277915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Environment staleness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12433250" y="4895850"/>
            <a:ext cx="114300" cy="114300"/>
          </a:xfrm>
          <a:prstGeom prst="ellipse">
            <a:avLst/>
          </a:prstGeom>
          <a:solidFill>
            <a:srgbClr val="C49A3D"/>
          </a:solidFill>
          <a:ln/>
        </p:spPr>
      </p:sp>
      <p:sp>
        <p:nvSpPr>
          <p:cNvPr id="32" name="Text 30"/>
          <p:cNvSpPr/>
          <p:nvPr/>
        </p:nvSpPr>
        <p:spPr>
          <a:xfrm>
            <a:off x="12680900" y="4781550"/>
            <a:ext cx="25116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End-of-life exposure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12433250" y="5391150"/>
            <a:ext cx="114300" cy="114300"/>
          </a:xfrm>
          <a:prstGeom prst="ellipse">
            <a:avLst/>
          </a:prstGeom>
          <a:solidFill>
            <a:srgbClr val="C49A3D"/>
          </a:solidFill>
          <a:ln/>
        </p:spPr>
      </p:sp>
      <p:sp>
        <p:nvSpPr>
          <p:cNvPr id="34" name="Text 32"/>
          <p:cNvSpPr/>
          <p:nvPr/>
        </p:nvSpPr>
        <p:spPr>
          <a:xfrm>
            <a:off x="12680900" y="5276850"/>
            <a:ext cx="15621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SLA tracking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SAFETY NET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Deferred is never invisible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371725"/>
            <a:ext cx="1295019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325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report-only scans keep watching the managed apps too — they never change the machine, so there's no reason to hand them off. A coverage boundary doesn't become a blind spot.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1143000" y="3617416"/>
            <a:ext cx="5156150" cy="5145584"/>
          </a:xfrm>
          <a:prstGeom prst="roundRect">
            <a:avLst>
              <a:gd name="adj" fmla="val 2592"/>
            </a:avLst>
          </a:prstGeom>
          <a:solidFill>
            <a:srgbClr val="1D221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3617416"/>
            <a:ext cx="5156150" cy="76200"/>
          </a:xfrm>
          <a:prstGeom prst="rect">
            <a:avLst/>
          </a:prstGeom>
          <a:solidFill>
            <a:srgbClr val="A53B35"/>
          </a:solidFill>
          <a:ln/>
        </p:spPr>
      </p:sp>
      <p:sp>
        <p:nvSpPr>
          <p:cNvPr id="7" name="Text 5"/>
          <p:cNvSpPr/>
          <p:nvPr/>
        </p:nvSpPr>
        <p:spPr>
          <a:xfrm>
            <a:off x="1504950" y="4055566"/>
            <a:ext cx="48754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7" kern="0" dirty="0">
                <a:solidFill>
                  <a:srgbClr val="E08A8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KEV still watches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4950" y="4560391"/>
            <a:ext cx="456521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inventory-wide CISA KEV scan covers all installed software — including the apps your platform owns.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65850" y="3617416"/>
            <a:ext cx="5156299" cy="5145584"/>
          </a:xfrm>
          <a:prstGeom prst="roundRect">
            <a:avLst>
              <a:gd name="adj" fmla="val 2592"/>
            </a:avLst>
          </a:prstGeom>
          <a:solidFill>
            <a:srgbClr val="1D221F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850" y="3617416"/>
            <a:ext cx="5156299" cy="76200"/>
          </a:xfrm>
          <a:prstGeom prst="rect">
            <a:avLst/>
          </a:prstGeom>
          <a:solidFill>
            <a:srgbClr val="C49A3D"/>
          </a:solidFill>
          <a:ln/>
        </p:spPr>
      </p:sp>
      <p:sp>
        <p:nvSpPr>
          <p:cNvPr id="11" name="Text 9"/>
          <p:cNvSpPr/>
          <p:nvPr/>
        </p:nvSpPr>
        <p:spPr>
          <a:xfrm>
            <a:off x="6927800" y="4055566"/>
            <a:ext cx="48756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7" kern="0" dirty="0">
                <a:solidFill>
                  <a:srgbClr val="D8B35F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Lifecycle still checked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27800" y="4560391"/>
            <a:ext cx="456537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Staleness and end-of-life scans flag out-of-support Windows or an EOL browser line your platform may miss.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988850" y="3617416"/>
            <a:ext cx="5156150" cy="5145584"/>
          </a:xfrm>
          <a:prstGeom prst="roundRect">
            <a:avLst>
              <a:gd name="adj" fmla="val 2592"/>
            </a:avLst>
          </a:prstGeom>
          <a:solidFill>
            <a:srgbClr val="1D221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988850" y="3617416"/>
            <a:ext cx="5156150" cy="76200"/>
          </a:xfrm>
          <a:prstGeom prst="rect">
            <a:avLst/>
          </a:prstGeom>
          <a:solidFill>
            <a:srgbClr val="24744F"/>
          </a:solidFill>
          <a:ln/>
        </p:spPr>
      </p:sp>
      <p:sp>
        <p:nvSpPr>
          <p:cNvPr id="15" name="Text 13"/>
          <p:cNvSpPr/>
          <p:nvPr/>
        </p:nvSpPr>
        <p:spPr>
          <a:xfrm>
            <a:off x="12350800" y="4055566"/>
            <a:ext cx="48754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37" kern="0" dirty="0">
                <a:solidFill>
                  <a:srgbClr val="4F9E7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 deferral logged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50800" y="4560391"/>
            <a:ext cx="456521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Each descoped item appears in the report with its reason — a decision an auditor can see, not a silent miss.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43000" y="9105900"/>
            <a:ext cx="17602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If your platform falls behind on an actively-exploited app, the report </a:t>
            </a:r>
            <a:pPr algn="l" indent="0" marL="0">
              <a:buNone/>
            </a:pPr>
            <a:r>
              <a:rPr lang="en-US" sz="2025" b="1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still raises it</a:t>
            </a:r>
            <a:pPr algn="l" indent="0" marL="0">
              <a:buNone/>
            </a:pPr>
            <a:r>
              <a:rPr lang="en-US" sz="2025" dirty="0">
                <a:solidFill>
                  <a:srgbClr val="C9CEC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.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8324A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PROOF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One record, patched and deferred alike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4054971"/>
            <a:ext cx="7762449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spc="-37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Every row records what was checked, what changed, and — for a deferred item — exactly why it was left to your platform.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5862638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2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HTML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95500" y="5795963"/>
            <a:ext cx="62138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Interactive — search, filter, sortable, print-friendly.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43000" y="6415088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2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JSON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95500" y="6348413"/>
            <a:ext cx="56080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Full machine-readable results for automation.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143000" y="6967538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24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CSV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95500" y="6900863"/>
            <a:ext cx="57637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33B35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Flat per-row export for SIEM, Excel or Power BI.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143000" y="7586663"/>
            <a:ext cx="77624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Descoped rows carry their reason, so an auditor sees precisely what was deferred and why.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12759" y="2809875"/>
            <a:ext cx="7932241" cy="6688634"/>
          </a:xfrm>
          <a:prstGeom prst="roundRect">
            <a:avLst>
              <a:gd name="adj" fmla="val 1994"/>
            </a:avLst>
          </a:prstGeom>
          <a:ln w="9525">
            <a:solidFill>
              <a:srgbClr val="DCD6C8"/>
            </a:solidFill>
            <a:prstDash val="solid"/>
          </a:ln>
          <a:effectLst>
            <a:outerShdw sx="100000" sy="100000" kx="0" ky="0" algn="bl" rotWithShape="0" blurRad="381000" dist="114300" dir="5400000">
              <a:srgbClr val="111513">
                <a:alpha val="2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2284" y="2819400"/>
            <a:ext cx="7913191" cy="6669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5" kern="0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Rolls out with tools you own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28875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2387"/>
            <a:ext cx="82899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Deploy as SYSTEM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4252913"/>
            <a:ext cx="82899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Ship the script via Intune Win32, SCCM or GPO to an admin-only path.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43000" y="4814888"/>
            <a:ext cx="82899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Rings &amp; schedule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5205413"/>
            <a:ext cx="77624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Assign Pilot / Early / Broad by registry; run nightly with jitter and a maintenance window.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143000" y="6100763"/>
            <a:ext cx="82899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Central evidence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6491288"/>
            <a:ext cx="77624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Point reports at a share; roll up the estate in the fleet dashboard; ingest events into the SIEM.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7386638"/>
            <a:ext cx="828999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513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Self-update off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7777163"/>
            <a:ext cx="77624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5F6A6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Your platform owns deployment — the script won't update itself behind your back.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12759" y="3097113"/>
            <a:ext cx="7932241" cy="6112073"/>
          </a:xfrm>
          <a:prstGeom prst="roundRect">
            <a:avLst>
              <a:gd name="adj" fmla="val 2182"/>
            </a:avLst>
          </a:prstGeom>
          <a:ln w="9525">
            <a:solidFill>
              <a:srgbClr val="DCD6C8"/>
            </a:solidFill>
            <a:prstDash val="solid"/>
          </a:ln>
          <a:effectLst>
            <a:outerShdw sx="100000" sy="100000" kx="0" ky="0" algn="bl" rotWithShape="0" blurRad="381000" dist="114300" dir="5400000">
              <a:srgbClr val="111513">
                <a:alpha val="22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2284" y="3106638"/>
            <a:ext cx="7913191" cy="60930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THE RECOMMENDATION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71600"/>
            <a:ext cx="14127480" cy="151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50" b="1" spc="-112" kern="0" dirty="0">
                <a:solidFill>
                  <a:srgbClr val="F6F2E8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Pilot it on the third-party gap — nothing else changes.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143000" y="3194447"/>
            <a:ext cx="1428750" cy="47625"/>
          </a:xfrm>
          <a:prstGeom prst="roundRect">
            <a:avLst>
              <a:gd name="adj" fmla="val 50000"/>
            </a:avLst>
          </a:prstGeom>
          <a:solidFill>
            <a:srgbClr val="C4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623072"/>
            <a:ext cx="5156150" cy="4911328"/>
          </a:xfrm>
          <a:prstGeom prst="roundRect">
            <a:avLst>
              <a:gd name="adj" fmla="val 2715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4475" y="3994547"/>
            <a:ext cx="48545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E08A8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overlap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14475" y="4527947"/>
            <a:ext cx="454559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Your platform keeps the OS, Office and browsers — untouched.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65850" y="3623072"/>
            <a:ext cx="5156299" cy="4911328"/>
          </a:xfrm>
          <a:prstGeom prst="roundRect">
            <a:avLst>
              <a:gd name="adj" fmla="val 2715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7325" y="3994547"/>
            <a:ext cx="485468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7FA8C9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blind spots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937325" y="4527947"/>
            <a:ext cx="454575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KEV, lifecycle and SLA scans watch the whole estate, managed apps included.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988850" y="3623072"/>
            <a:ext cx="5156150" cy="4911328"/>
          </a:xfrm>
          <a:prstGeom prst="roundRect">
            <a:avLst>
              <a:gd name="adj" fmla="val 2715"/>
            </a:avLst>
          </a:prstGeom>
          <a:solidFill>
            <a:srgbClr val="1D221F"/>
          </a:solidFill>
          <a:ln w="9525">
            <a:solidFill>
              <a:srgbClr val="2A3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60325" y="3994547"/>
            <a:ext cx="48545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37" kern="0" dirty="0">
                <a:solidFill>
                  <a:srgbClr val="4F9E77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No licence cost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60325" y="4527947"/>
            <a:ext cx="4545596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D4D9D2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Zero fees, no agent — deployed by the tooling you already operate.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53500"/>
            <a:ext cx="495300" cy="4953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09750" y="9010650"/>
            <a:ext cx="42995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50" kern="0" dirty="0">
                <a:solidFill>
                  <a:srgbClr val="C49A3D"/>
                </a:solidFill>
                <a:latin typeface="Segoe UI Variable Display" pitchFamily="34" charset="0"/>
                <a:ea typeface="Segoe UI Variable Display" pitchFamily="34" charset="-122"/>
                <a:cs typeface="Segoe UI Variable Display" pitchFamily="34" charset="-120"/>
              </a:rPr>
              <a:t>PATCH. VERIFY. PROVE IT.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2026-07-09T09:14:21Z</dcterms:created>
  <dcterms:modified xsi:type="dcterms:W3CDTF">2026-07-09T09:14:21Z</dcterms:modified>
</cp:coreProperties>
</file>